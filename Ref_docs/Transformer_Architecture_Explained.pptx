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 ARCHITECTURE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Deep Dive with Practical Examples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9260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"Attention Is All You Need" - Vaswani et al., 2017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PROBLEM: Why We Needed Transformers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OF RNNS (Recurrent Neural Networks)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73152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901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Processing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40480" y="19019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process word-by-word → Can't parallelize → Slow training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5146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514600"/>
            <a:ext cx="73152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06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25877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Long-Range Dependencies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840480" y="25877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Struggles to remember context from early in the sentence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200400"/>
            <a:ext cx="73152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📉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63040" y="3273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Vanishing Gradients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32735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gets lost as it passes through many time steps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3886200"/>
            <a:ext cx="73152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3977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📏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463040" y="39593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Context Window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840480" y="3959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ability to handle very long sequences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SOLUTION: Transformer Innovation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BREAKTHROUGH: Self-Attention Mechanism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processing words sequentially, Transformers look at ALL words simultaneously and decide which words are most important to pay attention to for understanding each word.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Parallel Processing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all words at once → Fast training with GPUs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31089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Long-Range Context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3337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word can attend to every other word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Scalability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Scales to billions of parameters effectively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Transfer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 once, fine-tune for many tasks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TRANSFORMER: High-Level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37160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'I love AI'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5603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Input Embedding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2880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Positional Encoding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Multi-Head Attention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35204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Feed Forward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38404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Layer Norm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27432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1371600"/>
            <a:ext cx="27432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12080" y="1920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</a:t>
            </a:r>
            <a:endParaRPr lang="en-US" sz="14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'J'aime l'IA'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03520" y="2560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Output Embedding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28346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Positional Encoding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3108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Masked Attention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832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Cross-Attention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0352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Feed Forward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9319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Layer Norm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0" y="2971800"/>
            <a:ext cx="914400" cy="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27432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RUNNING EXAMPLE: Translation Task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trace through this translation example step by step: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28800"/>
            <a:ext cx="13716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20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(English):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19456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sat on the mat"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0" y="2651760"/>
            <a:ext cx="0" cy="548640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291840"/>
            <a:ext cx="13716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383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(French):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6576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 chat était assis sur le tapis"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" y="4297680"/>
            <a:ext cx="7315200" cy="1828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315968"/>
            <a:ext cx="69494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We'll see how the Transformer processes each word and maintains context throughout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1: Input Embedding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words to numerical vectors that the model can process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10058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74520" y="22860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2651760"/>
            <a:ext cx="1005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4069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10058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63240" y="22860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2651760"/>
            <a:ext cx="1005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0.3]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4069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828800"/>
            <a:ext cx="10058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51960" y="22860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651760"/>
            <a:ext cx="1005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74904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4069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828800"/>
            <a:ext cx="10058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40680" y="22860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651760"/>
            <a:ext cx="1005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4069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Vec4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828800"/>
            <a:ext cx="10058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29400" y="22860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2651760"/>
            <a:ext cx="1005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2648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0.3]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26480" y="4069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0" y="1828800"/>
            <a:ext cx="100584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1828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18120" y="22860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2651760"/>
            <a:ext cx="10058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15200" y="2697480"/>
            <a:ext cx="1005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[0.2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-0.5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9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0.3]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15200" y="406908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1520" y="44348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word → Dense vector (e.g., 512 dimensions)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2: Positional Encoding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position information since attention doesn't know word order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1783080"/>
            <a:ext cx="7315200" cy="77724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6596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Embedding + Positional Encoding = Final Input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834640"/>
            <a:ext cx="1005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7160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834640"/>
            <a:ext cx="1005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032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749040" y="2834640"/>
            <a:ext cx="1005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2834640"/>
            <a:ext cx="1005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1005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0" y="2834640"/>
            <a:ext cx="100584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28803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31089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36118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process all words in parallel (no sequential order)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"cat sat" vs "sat cat" would look the same without position info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sine/cosine functions to encode position uniquely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SELF-ATTENTION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Mechanism of Transformers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each word learns which other words are important for understanding it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3: Self-Attention Mechanism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INTUITION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128016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7452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processing the word "sat" in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sat on the mat"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should pay attention to: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"cat" (who sat?)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"mat" (where?)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0" y="17373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(Q): 'What am I looking for?'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(K): 'What do I offer?'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(V): 'What's my content?'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606040"/>
            <a:ext cx="3474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743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Score = Q • K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(dot product)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2004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FORMULA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828800" y="361188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01168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 K, V) = softmax(Q·Kᵀ / √dₖ) · V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√dₖ = scaling factor (prevents large values)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= converts to probabilities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Self-Attention: Step-by-Step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Computing attention for "sat" in "The cat sat on the mat"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Create Query, Key, Value matrices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10972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31720" y="2103120"/>
            <a:ext cx="10972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3172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2103120"/>
            <a:ext cx="1097280" cy="457200"/>
          </a:xfrm>
          <a:prstGeom prst="rect">
            <a:avLst/>
          </a:prstGeom>
          <a:solidFill>
            <a:srgbClr val="FCD34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103120"/>
            <a:ext cx="10972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2103120"/>
            <a:ext cx="10972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69480" y="2103120"/>
            <a:ext cx="109728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26948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6060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(Focus word highlighted)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Compute attention scores (Q_sat · K_each_word)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80160" y="4059936"/>
            <a:ext cx="73152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9728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4407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14600" y="3730752"/>
            <a:ext cx="73152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233172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4407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749040" y="4005072"/>
            <a:ext cx="73152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66160" y="4407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83480" y="4027018"/>
            <a:ext cx="731520" cy="8778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407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4070909"/>
            <a:ext cx="731520" cy="43891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603504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35040" y="4407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452360" y="3697834"/>
            <a:ext cx="731520" cy="41696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726948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69480" y="440740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31520" y="466344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Highest attention: 'cat' and 'mat' (subject and location)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Multi-Head Attention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one attention mechanism, use multiple 'heads' in parallel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MULTIPLE HEADS?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57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heads can focus on different aspects: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 1: Syntactic relationships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 2: Semantic meaning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 3: Positional patterns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 4: Long-range dependencies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89120" y="17830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8 Attention Heads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219456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2194560"/>
            <a:ext cx="8229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1945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0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0" y="219456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0" y="2194560"/>
            <a:ext cx="82296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0" y="21945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0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194560"/>
            <a:ext cx="822960" cy="137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1945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315200" y="219456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0" y="2194560"/>
            <a:ext cx="822960" cy="137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0" y="219456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0" y="237744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0" y="2743200"/>
            <a:ext cx="82296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74320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29260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86400" y="274320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0" y="2743200"/>
            <a:ext cx="822960" cy="137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0" y="274320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0" y="29260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400800" y="274320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2743200"/>
            <a:ext cx="822960" cy="1371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74320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0" y="29260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315200" y="2743200"/>
            <a:ext cx="82296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0" y="2743200"/>
            <a:ext cx="822960" cy="137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0" y="2743200"/>
            <a:ext cx="8229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15200" y="29260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K V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572000" y="3291840"/>
            <a:ext cx="36576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0" y="3429000"/>
            <a:ext cx="274320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502920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&amp; LINEAR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400800" y="388620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4206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31520" y="457200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Typical: 8-16 heads for GPT-like models, each with smaller dimension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STEP 4: Feed Forward Network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attention, each position goes through a simple neural network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194560"/>
            <a:ext cx="274320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(512 dim)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651760"/>
            <a:ext cx="0" cy="3657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71600" y="301752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Layer 1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(512 → 2048)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0" y="356616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840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ReLU Activation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0" y="429768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71600" y="4572000"/>
            <a:ext cx="27432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Layer 2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(2048 → 512)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each position independently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Adds non-linear transformations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Expands to higher dimension (2048) then back down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network applied to every 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3657600"/>
            <a:ext cx="347472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FFN(x) = ReLU(xW₁ + b₁)W₂ + b₂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Layer Norm &amp; Residual Connections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critical techniques that make deep Transformers trainable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RESIDUAL CONNECTIONS (Skip Connections)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71600" y="2468880"/>
            <a:ext cx="2377440" cy="3657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468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2834640"/>
            <a:ext cx="0" cy="27432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651760"/>
            <a:ext cx="0" cy="1188720"/>
          </a:xfrm>
          <a:prstGeom prst="line">
            <a:avLst/>
          </a:prstGeom>
          <a:noFill/>
          <a:ln w="38100">
            <a:solidFill>
              <a:srgbClr val="10B98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777240" y="310896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0" y="3108960"/>
            <a:ext cx="10972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Sublayer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(Attention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FFN)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97280" y="3703320"/>
            <a:ext cx="146304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3566160"/>
            <a:ext cx="0" cy="13716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3611880"/>
            <a:ext cx="457200" cy="2743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2331720" y="3611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7280" y="37947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= x + Sublayer(x)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828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LAYER NORMALIZATION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194560"/>
            <a:ext cx="34747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23774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Normalizes the inputs to have: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Mean = 0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Variance =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3108960"/>
            <a:ext cx="3108960" cy="4572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2004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LayerNorm(x + Sublayer(x))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36118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Stabilizes training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Allows deeper networks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Faster convergence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1148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two techniques enable stacking 12-96+ layers successfully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DECODER: Masked Self-Attention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generation, the decoder can only look at previous words, not future ones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MASKING?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2148840"/>
            <a:ext cx="6400800" cy="6400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2860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generating "Le chat", the model shouldn't peek ahead to see "était" or "assis"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must predict one word at a time, left-to-right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MASK MATRIX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3383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3383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3383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était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338328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36576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23360" y="3657600"/>
            <a:ext cx="7315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846320" y="3657600"/>
            <a:ext cx="7315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69280" y="3657600"/>
            <a:ext cx="7315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6576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28600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1148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23360" y="41148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846320" y="4114800"/>
            <a:ext cx="7315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669280" y="4114800"/>
            <a:ext cx="7315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1148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28600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était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45720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023360" y="45720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46320" y="45720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669280" y="4572000"/>
            <a:ext cx="73152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0" y="45720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228600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50292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023360" y="50292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02336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846320" y="50292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484632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669280" y="5029200"/>
            <a:ext cx="73152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5669280" y="50292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2286000" y="5669280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= Can attend    ✗ = Masked (cannot see)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" y="4297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ensures the model learns to predict sequentially during training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DECODER: Cross-Attention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decoder attends to the encoder's output to use source sentence context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3200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011680"/>
            <a:ext cx="320040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OUTPUT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cat sat on the mat"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K (Keys) and V (Values)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2011680"/>
            <a:ext cx="3200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116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STATE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2423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"Le chat était..."</a:t>
            </a: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endParaRPr lang="en-US" sz="12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Q (Query)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0" y="2468880"/>
            <a:ext cx="914400" cy="0"/>
          </a:xfrm>
          <a:prstGeom prst="line">
            <a:avLst/>
          </a:prstGeom>
          <a:noFill/>
          <a:ln w="508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240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2004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MECHANISM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566160"/>
            <a:ext cx="6400800" cy="1097280"/>
          </a:xfrm>
          <a:prstGeom prst="rect">
            <a:avLst/>
          </a:prstGeom>
          <a:solidFill>
            <a:srgbClr val="CADCFC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3703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generating French word 'assis' (sitting):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Decoder Query: 'What's the next word after était?'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Looks at Encoder Keys: 'The', 'cat', 'sat', 'on', 'the', 'mat'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Finds high match with 'sat' (K)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Uses corresponding Value (V) to inform generation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7548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allows the decoder to 'look back' at the source sentence while generating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Complete Forward Pass: Step-by-Step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46304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'The cat sat on the mat' → Tokenize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178308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 + Positional Encoding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1031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03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103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ENCODER: 12 layers of (Multi-Head Attention → FFN)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242316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23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4231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Rich representation of source sentence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27432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27432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DECODER: Start with [START] token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4400" y="306324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0632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Attention (can't see future)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338328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Cross-Attention (attend to encoder)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4400" y="370332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37033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 → Predict next token: 'Le'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02336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4023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40233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Repeat: 'Le' → 'chat' → 'était' → 'assis' → ...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343400"/>
            <a:ext cx="320040" cy="3200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4343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4343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at [END] token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Training vs Inference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9659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Forcing: Give entire target sequence at once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processing of all positions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loss on all tokens simultaneously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Fast: ~1000 sentences/second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Given full 'Le chat était assis...', predict each word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Auto-regressive: Generate one token at a time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generated tokens back as input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when [END] token generated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Slower: Sequential generation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'Le' → 'Le chat' → 'Le chat était' → 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Hyperparameters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'Attention Is All You Need' Configuration (2017)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105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Dimension (dₘₒdₑₗ)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3736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of embedding vectors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7373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7373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8105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Heads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0116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760720" y="2011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attention mechanisms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4231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4963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Layers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2697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(encoder)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(decoder)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2697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Depth of network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231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4231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4963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 Dimension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26974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size in feed-forward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1520" y="31089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" y="31089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1821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383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3383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Regularization rate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1089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1089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1821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 Size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33832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37,000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760720" y="33832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tokens (subwords)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" y="37947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37947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3867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Sequence Length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1440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737360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input length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54880" y="3794760"/>
            <a:ext cx="365760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794760"/>
            <a:ext cx="73152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4937760" y="386791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937760" y="4069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(warmup)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760720" y="4069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optimizer with schedule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 Variants: GPT vs BERT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architectures for different tasks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(Decoder-Only)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only Decoder stack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self-attention (causal)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Autoregressive generation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generation, completion, chat, creative writing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86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ChatGPT, GPT-4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4160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left-to-right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73736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737360"/>
            <a:ext cx="36576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(Encoder-Only)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224028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4688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only Encoder stack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attention (sees all)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Language Model 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200400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For: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Understanding, classification, Q&amp;A, sentiment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88620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Google Search, BERT-base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Sees context from both sides →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Practical Example: PyTorch Code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Simplified Transformer Block in PyTorch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3152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torch.nn as nn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TransformerBlock(nn.Module):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d_model=512, n_heads=8):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super().__init__()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self.attention = nn.MultiheadAttention(d_model, n_heads)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self.norm1 = nn.LayerNorm(d_model)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self.ffn = nn.Sequential(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nn.Linear(d_model, 2048),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nn.ReLU(),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nn.Linear(2048, d_model)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self.norm2 = nn.LayerNorm(d_model)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forward(self, x):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Self-attention with residual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attn_out, _ = self.attention(x, x, x)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self.norm1(x + attn_out)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Feed-forward with residual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ffn_out = self.ffn(x)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self.norm2(x + ffn_out)</a:t>
            </a:r>
            <a:endParaRPr lang="en-US" sz="9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73152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Translation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Translate, DeepL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 &amp; Assistants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ChatGPT, Claude, Siri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5488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9496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4632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Generation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Copilot, CodeLlama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46304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600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0" y="21031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Summarization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 summaries, document TL;DR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37160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822960" y="3566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Answering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engines, customer support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8328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2834640" y="3566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 posts, marketing copy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39496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846320" y="3566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Analysis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monitoring, reviews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66560" y="2926080"/>
            <a:ext cx="18288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30632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6858000" y="356616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Entity Recognition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people, places, dates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56032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Self-Attention lets every word attend to every other word simultaneously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Parallel processing makes training fast and scalable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Encoder processes source, Decoder generates target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Multi-head attention captures different relationships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Residual connections &amp; layer norm enable deep networks</a:t>
            </a:r>
            <a:endParaRPr lang="en-US" sz="15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Foundation of modern NLP: GPT, BERT, T5, LLaMA, etc.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Transformers with Examples</dc:title>
  <dc:subject>PptxGenJS Presentation</dc:subject>
  <dc:creator>Transformer Architecture Guide</dc:creator>
  <cp:lastModifiedBy>Transformer Architecture Guide</cp:lastModifiedBy>
  <cp:revision>1</cp:revision>
  <dcterms:created xsi:type="dcterms:W3CDTF">2026-02-23T02:21:55Z</dcterms:created>
  <dcterms:modified xsi:type="dcterms:W3CDTF">2026-02-23T02:21:55Z</dcterms:modified>
</cp:coreProperties>
</file>